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</p:embeddedFont>
    <p:embeddedFont>
      <p:font typeface="Raleway Light" pitchFamily="2" charset="0"/>
      <p:regular r:id="rId17"/>
      <p:italic r:id="rId18"/>
    </p:embeddedFont>
    <p:embeddedFont>
      <p:font typeface="Roboto" panose="02000000000000000000" pitchFamily="2" charset="0"/>
      <p:regular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DFB40B7-5321-4D09-AA07-24D0743F26A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44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search/dat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search/dat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rawpixel.com/search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jpeg"/><Relationship Id="rId4" Type="http://schemas.openxmlformats.org/officeDocument/2006/relationships/hyperlink" Target="https://www.rawpixel.com/search/dat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hyperlink" Target="https://www.rawpixel.com/search/dat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search/dat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www.rawpixel.com/search/dat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www.rawpixel.com/search/dat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hyperlink" Target="https://www.rawpixel.com/search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40A4-CD63-573A-59E9-B258ABD1B99B}"/>
              </a:ext>
            </a:extLst>
          </p:cNvPr>
          <p:cNvSpPr/>
          <p:nvPr/>
        </p:nvSpPr>
        <p:spPr>
          <a:xfrm>
            <a:off x="10860833" y="6260841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BEBBE-F842-5C16-81F2-B932132C6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917138" y="1723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Churn Prediction &amp; Analysis</a:t>
            </a:r>
            <a:endParaRPr lang="en-US" sz="3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EEAA3-B7C5-6D28-FF6C-C311558B3DEB}"/>
              </a:ext>
            </a:extLst>
          </p:cNvPr>
          <p:cNvSpPr txBox="1"/>
          <p:nvPr/>
        </p:nvSpPr>
        <p:spPr>
          <a:xfrm>
            <a:off x="3132306" y="1563950"/>
            <a:ext cx="53177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/>
              <a:t>👨‍🎓 Presented By </a:t>
            </a:r>
          </a:p>
          <a:p>
            <a:pPr algn="ctr"/>
            <a:endParaRPr lang="en-IN" sz="2500" dirty="0"/>
          </a:p>
          <a:p>
            <a:pPr algn="ctr"/>
            <a:r>
              <a:rPr lang="en-IN" sz="25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    Suvarnam Lakshmi Mallesh </a:t>
            </a:r>
          </a:p>
          <a:p>
            <a:pPr algn="ctr"/>
            <a:endParaRPr lang="en-IN" sz="2500" dirty="0"/>
          </a:p>
          <a:p>
            <a:pPr algn="ctr"/>
            <a:r>
              <a:rPr lang="en-IN" sz="2500" dirty="0"/>
              <a:t>Registration No: 12400532</a:t>
            </a:r>
          </a:p>
          <a:p>
            <a:pPr algn="ctr"/>
            <a:endParaRPr lang="en-IN" sz="2500" dirty="0"/>
          </a:p>
          <a:p>
            <a:pPr algn="ctr"/>
            <a:r>
              <a:rPr lang="en-IN" sz="2500" dirty="0" err="1"/>
              <a:t>B.Tech</a:t>
            </a:r>
            <a:r>
              <a:rPr lang="en-IN" sz="2500" dirty="0"/>
              <a:t> CSE (Data Science)</a:t>
            </a:r>
          </a:p>
          <a:p>
            <a:pPr algn="ctr"/>
            <a:endParaRPr lang="en-IN" sz="2500" dirty="0"/>
          </a:p>
          <a:p>
            <a:pPr algn="ctr"/>
            <a:r>
              <a:rPr lang="en-IN" sz="2500" dirty="0"/>
              <a:t>Lovely Professional University </a:t>
            </a:r>
          </a:p>
          <a:p>
            <a:pPr algn="ctr"/>
            <a:endParaRPr lang="en-IN" sz="2500" dirty="0"/>
          </a:p>
          <a:p>
            <a:pPr algn="ctr"/>
            <a:r>
              <a:rPr lang="en-IN" sz="2500" dirty="0"/>
              <a:t>August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A3651-7E45-9E09-A61C-CAC5180CB4AE}"/>
              </a:ext>
            </a:extLst>
          </p:cNvPr>
          <p:cNvSpPr txBox="1"/>
          <p:nvPr/>
        </p:nvSpPr>
        <p:spPr>
          <a:xfrm>
            <a:off x="3995104" y="762959"/>
            <a:ext cx="420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CSE443 </a:t>
            </a:r>
            <a:r>
              <a:rPr lang="en-IN" dirty="0"/>
              <a:t>: SEMINAR ON SUMMER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9E05774-8F7D-8750-BCB2-4BE0EC335FE2}"/>
              </a:ext>
            </a:extLst>
          </p:cNvPr>
          <p:cNvSpPr/>
          <p:nvPr/>
        </p:nvSpPr>
        <p:spPr>
          <a:xfrm>
            <a:off x="10860833" y="6260841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3E509C-23E8-E6E2-148E-0E52BCDBF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8817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755874"/>
            <a:ext cx="5476043" cy="4220369"/>
          </a:xfrm>
          <a:prstGeom prst="roundRect">
            <a:avLst>
              <a:gd name="adj" fmla="val 3225"/>
            </a:avLst>
          </a:prstGeom>
          <a:solidFill>
            <a:srgbClr val="1E5A96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94488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429173"/>
            <a:ext cx="5098029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26.5%</a:t>
            </a:r>
            <a:endParaRPr lang="en-US" sz="7400" dirty="0"/>
          </a:p>
        </p:txBody>
      </p:sp>
      <p:sp>
        <p:nvSpPr>
          <p:cNvPr id="6" name="Text 4"/>
          <p:cNvSpPr/>
          <p:nvPr/>
        </p:nvSpPr>
        <p:spPr>
          <a:xfrm>
            <a:off x="714357" y="3799582"/>
            <a:ext cx="509802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customers in the dataset have churned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identification enables proactive retention — before revenue is lost.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94488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332776" y="245278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3666" y="24882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7024" y="2517676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 At-Risk Customers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947024" y="3001962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model to identify customers likely to churn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36824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3666" y="37178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7024" y="3747294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Key Drivers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947024" y="4231580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factors that most influence churn behavior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2776" y="491202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3666" y="494744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7024" y="4976912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 Actionable Insights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947024" y="5461198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dashboard for real-time churn monitoring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5124C9F-5975-A697-EB77-05B7A0E3579D}"/>
              </a:ext>
            </a:extLst>
          </p:cNvPr>
          <p:cNvSpPr/>
          <p:nvPr/>
        </p:nvSpPr>
        <p:spPr>
          <a:xfrm>
            <a:off x="10860833" y="6260841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4F056C5-8F86-7C42-0F94-46665EF41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39651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Data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938312"/>
            <a:ext cx="1086874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92622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7,043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796852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41983" y="1292622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6141983" y="1796852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41983" y="2025650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Demographic, service &amp; billing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29033" y="3030041"/>
            <a:ext cx="1453022" cy="29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73.5%</a:t>
            </a:r>
            <a:endParaRPr lang="en-US" sz="2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592" y="2291755"/>
            <a:ext cx="1772003" cy="17720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1475" y="4167088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Churn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09541" y="3030041"/>
            <a:ext cx="1453022" cy="29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26.5%</a:t>
            </a:r>
            <a:endParaRPr lang="en-US" sz="2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100" y="2291755"/>
            <a:ext cx="1772003" cy="17720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41983" y="4167088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61475" y="4462363"/>
            <a:ext cx="1086874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Preprocessing Steps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1475" y="4757638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61475" y="4945658"/>
            <a:ext cx="5397464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4"/>
          <p:cNvSpPr/>
          <p:nvPr/>
        </p:nvSpPr>
        <p:spPr>
          <a:xfrm>
            <a:off x="661475" y="5030093"/>
            <a:ext cx="539746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1475" y="5258891"/>
            <a:ext cx="53974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NaN in TotalCharges (tenure = 0) → filled with 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132756" y="4757638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32756" y="4945658"/>
            <a:ext cx="5397464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8"/>
          <p:cNvSpPr/>
          <p:nvPr/>
        </p:nvSpPr>
        <p:spPr>
          <a:xfrm>
            <a:off x="6132756" y="5030093"/>
            <a:ext cx="539746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 Correction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132756" y="5258891"/>
            <a:ext cx="53974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TotalCharges: object → float64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61475" y="5574903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61475" y="5762923"/>
            <a:ext cx="5397464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2"/>
          <p:cNvSpPr/>
          <p:nvPr/>
        </p:nvSpPr>
        <p:spPr>
          <a:xfrm>
            <a:off x="661475" y="5847358"/>
            <a:ext cx="539746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Removal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1475" y="6076156"/>
            <a:ext cx="53974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customerID dropped (non-predictive identifier)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132756" y="5574903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32756" y="5762923"/>
            <a:ext cx="5397464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6"/>
          <p:cNvSpPr/>
          <p:nvPr/>
        </p:nvSpPr>
        <p:spPr>
          <a:xfrm>
            <a:off x="6132756" y="5847358"/>
            <a:ext cx="539746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Encoding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132756" y="6076156"/>
            <a:ext cx="53974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Categorical variables encoded via LabelEncoder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177F26-5BE2-5FAF-84DD-1E286C300F76}"/>
              </a:ext>
            </a:extLst>
          </p:cNvPr>
          <p:cNvSpPr/>
          <p:nvPr/>
        </p:nvSpPr>
        <p:spPr>
          <a:xfrm>
            <a:off x="10860833" y="6260841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C884D-C975-2AEC-C401-DC609CB09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728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72393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328" y="1791395"/>
            <a:ext cx="5582205" cy="3925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1342926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1333" y="1713210"/>
            <a:ext cx="3565138" cy="11276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7191" y="1882874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217191" y="2238177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Churned: median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 months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retained: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38 months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1333" y="2960787"/>
            <a:ext cx="3565138" cy="11276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17191" y="3130451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Type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217191" y="3485753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Month-to-month: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43% churn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Two-year: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3% churn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1333" y="4208363"/>
            <a:ext cx="3565138" cy="9111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7191" y="4378027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Internet Service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217191" y="4733330"/>
            <a:ext cx="314962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Fiber optic: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41.9%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churn · DSL: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churn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1333" y="5239445"/>
            <a:ext cx="3565138" cy="9111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17191" y="5409109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Method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8217191" y="5764411"/>
            <a:ext cx="314962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Electronic check: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Auto payments: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16%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9FD45E-C69A-8AE1-72F7-EE628C9B3201}"/>
              </a:ext>
            </a:extLst>
          </p:cNvPr>
          <p:cNvSpPr/>
          <p:nvPr/>
        </p:nvSpPr>
        <p:spPr>
          <a:xfrm>
            <a:off x="10860833" y="6260841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7222E3-C9DE-9BFD-ADDB-A77C46B4A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58899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Correlation Analysis &amp; Feature Engineering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7971333" y="2077045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Correlations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2360315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Engineered Features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71333" y="2715617"/>
            <a:ext cx="3565138" cy="1899841"/>
          </a:xfrm>
          <a:prstGeom prst="rect">
            <a:avLst/>
          </a:prstGeom>
          <a:noFill/>
          <a:ln/>
        </p:spPr>
        <p:txBody>
          <a:bodyPr wrap="square" lIns="0" tIns="6025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TotalServices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count of subscribed services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AvgMonthlySpend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TotalCharges ÷ Tenure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CustomerLifetimeValue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MonthlyCharges × Tenure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LongTermCustomer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tenure ≥ 24 months (binary)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HighValueCustomer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charges ≥ 75th percentile (binary)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5520928"/>
            <a:ext cx="3541922" cy="7972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84" y="5539978"/>
            <a:ext cx="333416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 </a:t>
            </a: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TotalCharges: </a:t>
            </a:r>
            <a:r>
              <a:rPr lang="en-US" sz="1450" dirty="0">
                <a:solidFill>
                  <a:srgbClr val="1E5A9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0.83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50184" y="5847259"/>
            <a:ext cx="333416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positive — longer tenure accumulates higher charges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5312" y="5520928"/>
            <a:ext cx="3541922" cy="7972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23071" y="5539978"/>
            <a:ext cx="3334163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MonthlyCharges </a:t>
            </a: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AvgMonthlySpend: </a:t>
            </a:r>
            <a:r>
              <a:rPr lang="en-US" sz="1450" dirty="0">
                <a:solidFill>
                  <a:srgbClr val="1E5A9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0.99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523071" y="6082605"/>
            <a:ext cx="333416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Validates the engineered feature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8199" y="5520928"/>
            <a:ext cx="3541922" cy="7972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95958" y="5539978"/>
            <a:ext cx="333416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 </a:t>
            </a: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Churn: </a:t>
            </a:r>
            <a:r>
              <a:rPr lang="en-US" sz="1450" dirty="0">
                <a:solidFill>
                  <a:srgbClr val="1E5A9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−0.35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195958" y="5847259"/>
            <a:ext cx="333416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Longer tenure reduces churn risk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13193D-94D9-E1DF-018A-A2F02BC1F9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03" t="2555" r="3683"/>
          <a:stretch>
            <a:fillRect/>
          </a:stretch>
        </p:blipFill>
        <p:spPr>
          <a:xfrm>
            <a:off x="1499344" y="1175902"/>
            <a:ext cx="4972646" cy="3968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85A256A-F537-9D0C-0F9A-8C1EA11695BA}"/>
              </a:ext>
            </a:extLst>
          </p:cNvPr>
          <p:cNvSpPr/>
          <p:nvPr/>
        </p:nvSpPr>
        <p:spPr>
          <a:xfrm>
            <a:off x="10842171" y="6430561"/>
            <a:ext cx="1331167" cy="418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FD49C4-5B39-D64E-C329-8CFCF23A9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2159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Models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6090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/ Test Split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34778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Stratified split applied to maintain class distribution.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513211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987080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· Precision · Recall · F1-Score · ROC-AUC · Confusion Matrix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29105" y="156090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Models Evaluated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9105" y="2057598"/>
            <a:ext cx="2512156" cy="1449189"/>
          </a:xfrm>
          <a:prstGeom prst="roundRect">
            <a:avLst>
              <a:gd name="adj" fmla="val 539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1485" y="2249984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21485" y="2723852"/>
            <a:ext cx="21273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baseline for binary classification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024414" y="2057598"/>
            <a:ext cx="2512156" cy="1449189"/>
          </a:xfrm>
          <a:prstGeom prst="roundRect">
            <a:avLst>
              <a:gd name="adj" fmla="val 539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16794" y="2249984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16794" y="2723852"/>
            <a:ext cx="21273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non-linear relationships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29105" y="3689945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1485" y="3882330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21485" y="4356199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of 200 trees for robustness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255816"/>
            <a:ext cx="10868745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825" y="5262166"/>
            <a:ext cx="5428023" cy="1067891"/>
          </a:xfrm>
          <a:custGeom>
            <a:avLst/>
            <a:gdLst/>
            <a:ahLst/>
            <a:cxnLst/>
            <a:rect l="l" t="t" r="r" b="b"/>
            <a:pathLst>
              <a:path w="5428023" h="1067891">
                <a:moveTo>
                  <a:pt x="65123" y="0"/>
                </a:moveTo>
                <a:lnTo>
                  <a:pt x="5428023" y="0"/>
                </a:lnTo>
                <a:lnTo>
                  <a:pt x="5428023" y="1067891"/>
                </a:lnTo>
                <a:lnTo>
                  <a:pt x="65123" y="1067891"/>
                </a:lnTo>
                <a:arcTo wR="65123" hR="65124" stAng="5400000" swAng="5400000"/>
                <a:lnTo>
                  <a:pt x="0" y="65124"/>
                </a:lnTo>
                <a:arcTo wR="65123" hR="65124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9" name="Text 17"/>
          <p:cNvSpPr/>
          <p:nvPr/>
        </p:nvSpPr>
        <p:spPr>
          <a:xfrm>
            <a:off x="853855" y="5448201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Set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3855" y="5848747"/>
            <a:ext cx="505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5,634 samples — 80%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095848" y="5262166"/>
            <a:ext cx="5428023" cy="1067891"/>
          </a:xfrm>
          <a:custGeom>
            <a:avLst/>
            <a:gdLst/>
            <a:ahLst/>
            <a:cxnLst/>
            <a:rect l="l" t="t" r="r" b="b"/>
            <a:pathLst>
              <a:path w="5428023" h="1067891">
                <a:moveTo>
                  <a:pt x="0" y="0"/>
                </a:moveTo>
                <a:lnTo>
                  <a:pt x="5362900" y="0"/>
                </a:lnTo>
                <a:arcTo wR="65123" hR="65124" stAng="16200000" swAng="5400000"/>
                <a:lnTo>
                  <a:pt x="5428023" y="1002767"/>
                </a:lnTo>
                <a:arcTo wR="65123" hR="65124" stAng="0" swAng="5400000"/>
                <a:lnTo>
                  <a:pt x="0" y="106789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5262166"/>
            <a:ext cx="25399" cy="1067891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3" name="Text 21"/>
          <p:cNvSpPr/>
          <p:nvPr/>
        </p:nvSpPr>
        <p:spPr>
          <a:xfrm>
            <a:off x="6281878" y="5448201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Set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81878" y="5848747"/>
            <a:ext cx="505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1,409 samples — 20%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FA8C5E-1C3D-A7E9-943B-56F9F53AD6D6}"/>
              </a:ext>
            </a:extLst>
          </p:cNvPr>
          <p:cNvSpPr/>
          <p:nvPr/>
        </p:nvSpPr>
        <p:spPr>
          <a:xfrm>
            <a:off x="10860833" y="6188878"/>
            <a:ext cx="1331167" cy="59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E0C1FB-D7AB-0939-DDFB-A9115212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Comparison &amp; Selection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7049195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E1E1E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929" y="7120037"/>
            <a:ext cx="118067" cy="94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8450" y="7120037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Logistic Regression selected</a:t>
            </a: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highest Accuracy (0.796), F1-Score (0.585), and ROC-AUC (0.715). Best balance between precision and recall for this business use case.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74A7912-ED0C-D704-5E64-B2D374FEAE6D}"/>
              </a:ext>
            </a:extLst>
          </p:cNvPr>
          <p:cNvSpPr/>
          <p:nvPr/>
        </p:nvSpPr>
        <p:spPr>
          <a:xfrm>
            <a:off x="10842171" y="6430561"/>
            <a:ext cx="1331167" cy="418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43A1068-61D3-C73F-DDE8-94D780B6A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40700" y="-1"/>
            <a:ext cx="12232700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4123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 &amp; Business Insights</a:t>
            </a:r>
            <a:endParaRPr lang="en-US" sz="2950" dirty="0"/>
          </a:p>
        </p:txBody>
      </p:sp>
      <p:sp>
        <p:nvSpPr>
          <p:cNvPr id="20" name="Text 14"/>
          <p:cNvSpPr/>
          <p:nvPr/>
        </p:nvSpPr>
        <p:spPr>
          <a:xfrm>
            <a:off x="6285946" y="1311771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Business Insights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285946" y="1682055"/>
            <a:ext cx="2565336" cy="1318716"/>
          </a:xfrm>
          <a:prstGeom prst="roundRect">
            <a:avLst>
              <a:gd name="adj" fmla="val 47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42906" y="1839020"/>
            <a:ext cx="22514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14×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2906" y="2194322"/>
            <a:ext cx="2251416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Month-to-month contracts are 14× riskier than two-year contracts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1234" y="1682055"/>
            <a:ext cx="2565336" cy="1318716"/>
          </a:xfrm>
          <a:prstGeom prst="roundRect">
            <a:avLst>
              <a:gd name="adj" fmla="val 47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28194" y="1839020"/>
            <a:ext cx="22514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2.2×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128194" y="2194322"/>
            <a:ext cx="225141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Fiber optic customers churn 2.2× more than DSL customers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285946" y="3120727"/>
            <a:ext cx="2565336" cy="1318716"/>
          </a:xfrm>
          <a:prstGeom prst="roundRect">
            <a:avLst>
              <a:gd name="adj" fmla="val 47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42906" y="3277691"/>
            <a:ext cx="22514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442906" y="3632994"/>
            <a:ext cx="225141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Electronic check payment correlates with 45% churn rate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8971234" y="3120727"/>
            <a:ext cx="2565336" cy="1318716"/>
          </a:xfrm>
          <a:prstGeom prst="roundRect">
            <a:avLst>
              <a:gd name="adj" fmla="val 47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28194" y="3277691"/>
            <a:ext cx="22514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128194" y="3632994"/>
            <a:ext cx="2251416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tenure &lt; 6 months account for 50% of all churners</a:t>
            </a:r>
            <a:endParaRPr lang="en-US" sz="11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0DD9BEB-6005-C4BB-0C86-A7C73C890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17" y="1011833"/>
            <a:ext cx="4901694" cy="272275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586E7D-B124-9481-F026-E3B318B5C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417" y="3849489"/>
            <a:ext cx="4901694" cy="287788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8DCB4B2-A6F5-9D70-DD54-9411B57D704F}"/>
              </a:ext>
            </a:extLst>
          </p:cNvPr>
          <p:cNvSpPr txBox="1"/>
          <p:nvPr/>
        </p:nvSpPr>
        <p:spPr>
          <a:xfrm>
            <a:off x="6311699" y="4534510"/>
            <a:ext cx="5165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With Interactive filters for customer segmentation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495FAF8-68F8-69E4-CEE8-0A1D9498730B}"/>
              </a:ext>
            </a:extLst>
          </p:cNvPr>
          <p:cNvSpPr/>
          <p:nvPr/>
        </p:nvSpPr>
        <p:spPr>
          <a:xfrm>
            <a:off x="10842171" y="6430561"/>
            <a:ext cx="1331167" cy="418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CB42BB-24D6-AF7A-CE98-17C2AFB14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12214038" cy="68580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8926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Recommendations &amp; 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676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Strategies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485" y="1893888"/>
            <a:ext cx="248041" cy="248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830" y="188882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Incentives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98830" y="2291953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discounts for upgrading from month-to-month to annual plans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485" y="3082528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8830" y="3077468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Engagement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98830" y="3480594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programs for first 6 months — the most critical window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485" y="4271169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8830" y="4266109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Optimization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98830" y="4669234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 auto-pay adoption; reduce friction for electronic check users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485" y="5459809"/>
            <a:ext cx="248041" cy="248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8830" y="5454749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Proactive Outreach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98830" y="5857875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model predictions for targeted retention campaigns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184844" y="1322983"/>
            <a:ext cx="5470785" cy="4945658"/>
          </a:xfrm>
          <a:prstGeom prst="roundRect">
            <a:avLst>
              <a:gd name="adj" fmla="val 2408"/>
            </a:avLst>
          </a:prstGeom>
          <a:solidFill>
            <a:srgbClr val="1E5A96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1"/>
          <p:cNvSpPr/>
          <p:nvPr/>
        </p:nvSpPr>
        <p:spPr>
          <a:xfrm>
            <a:off x="6350139" y="146764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50139" y="1870770"/>
            <a:ext cx="5140196" cy="1143992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 model: </a:t>
            </a: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79.8% accuracy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0.721 ROC-AUC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churn drivers: </a:t>
            </a: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tenure, contract type, payment method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Power BI dashboard for real-time monitoring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enables data-driven retention and revenue protection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350139" y="3218755"/>
            <a:ext cx="514019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350139" y="3441799"/>
            <a:ext cx="5140196" cy="87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Suvarnam Lakshmi Mallesh </a:t>
            </a:r>
          </a:p>
          <a:p>
            <a:pPr marL="0" indent="0" algn="ctr">
              <a:lnSpc>
                <a:spcPct val="125000"/>
              </a:lnSpc>
              <a:buNone/>
            </a:pPr>
            <a:endParaRPr lang="en-US" sz="1300" dirty="0">
              <a:solidFill>
                <a:srgbClr val="FFFF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No:  12400532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endParaRPr lang="en-US" sz="1300" dirty="0">
              <a:solidFill>
                <a:srgbClr val="FFFF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CSE – Data Science</a:t>
            </a:r>
          </a:p>
          <a:p>
            <a:pPr marL="0" indent="0" algn="ctr">
              <a:lnSpc>
                <a:spcPct val="125000"/>
              </a:lnSpc>
              <a:buNone/>
            </a:pPr>
            <a:endParaRPr lang="en-US" sz="1300" dirty="0">
              <a:solidFill>
                <a:srgbClr val="FFFF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Lovely Professional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571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 Light</vt:lpstr>
      <vt:lpstr>Arial</vt:lpstr>
      <vt:lpstr>Georgia</vt:lpstr>
      <vt:lpstr>Roboto Bold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Mallesh Suvarnam</cp:lastModifiedBy>
  <cp:revision>3</cp:revision>
  <dcterms:created xsi:type="dcterms:W3CDTF">2026-08-29T12:40:11Z</dcterms:created>
  <dcterms:modified xsi:type="dcterms:W3CDTF">2026-08-29T13:13:17Z</dcterms:modified>
</cp:coreProperties>
</file>